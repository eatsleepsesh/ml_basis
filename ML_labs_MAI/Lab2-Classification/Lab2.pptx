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5" r:id="rId7"/>
    <p:sldId id="266" r:id="rId8"/>
    <p:sldId id="262" r:id="rId9"/>
    <p:sldId id="267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5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4633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9398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4708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34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3694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8241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2669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0560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2733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2564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5651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849655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32482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84747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10661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42145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318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39508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29D4E0-46F5-657F-9E96-B9E965B681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1649910"/>
            <a:ext cx="8425563" cy="861420"/>
          </a:xfrm>
        </p:spPr>
        <p:txBody>
          <a:bodyPr/>
          <a:lstStyle/>
          <a:p>
            <a:r>
              <a:rPr lang="ru-RU" sz="4800" dirty="0"/>
              <a:t>Лабораторная работа №2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0AE8B4E-FE39-B9F0-57F6-41A4EBB9C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3171" y="2511330"/>
            <a:ext cx="8825658" cy="861420"/>
          </a:xfrm>
        </p:spPr>
        <p:txBody>
          <a:bodyPr/>
          <a:lstStyle/>
          <a:p>
            <a:r>
              <a:rPr lang="ru-RU" dirty="0"/>
              <a:t>Тема: «Классификация»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8C9496-FE26-858B-6A67-5478DCCD6BDD}"/>
              </a:ext>
            </a:extLst>
          </p:cNvPr>
          <p:cNvSpPr txBox="1"/>
          <p:nvPr/>
        </p:nvSpPr>
        <p:spPr>
          <a:xfrm>
            <a:off x="3724617" y="5208090"/>
            <a:ext cx="84673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Магомедов Эдуард </a:t>
            </a:r>
            <a:r>
              <a:rPr lang="ru-RU" dirty="0" err="1"/>
              <a:t>Хасбулаевич</a:t>
            </a:r>
            <a:r>
              <a:rPr lang="ru-RU" dirty="0"/>
              <a:t>, Таланкин Кирилл, Сидоров Дмитрий</a:t>
            </a:r>
          </a:p>
          <a:p>
            <a:pPr algn="r"/>
            <a:r>
              <a:rPr lang="ru-RU" dirty="0"/>
              <a:t>М8О-309Б-23</a:t>
            </a:r>
          </a:p>
        </p:txBody>
      </p:sp>
    </p:spTree>
    <p:extLst>
      <p:ext uri="{BB962C8B-B14F-4D97-AF65-F5344CB8AC3E}">
        <p14:creationId xmlns:p14="http://schemas.microsoft.com/office/powerpoint/2010/main" val="1553999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79CA9-66B9-A279-E8EA-57ABB7CBE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219" y="452718"/>
            <a:ext cx="9404723" cy="814020"/>
          </a:xfrm>
        </p:spPr>
        <p:txBody>
          <a:bodyPr/>
          <a:lstStyle/>
          <a:p>
            <a:r>
              <a:rPr lang="ru-RU" dirty="0"/>
              <a:t>Описание датасета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060528-1C23-7AA6-1B47-3F2F23E8D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219" y="1266738"/>
            <a:ext cx="8946541" cy="2645123"/>
          </a:xfrm>
        </p:spPr>
        <p:txBody>
          <a:bodyPr>
            <a:normAutofit/>
          </a:bodyPr>
          <a:lstStyle/>
          <a:p>
            <a:r>
              <a:rPr lang="ru-RU" dirty="0">
                <a:effectLst/>
              </a:rPr>
              <a:t>Датасет: </a:t>
            </a:r>
            <a:r>
              <a:rPr lang="en-AU" dirty="0" err="1">
                <a:effectLst/>
              </a:rPr>
              <a:t>Titanic_dataset</a:t>
            </a:r>
            <a:endParaRPr lang="ru-RU" dirty="0">
              <a:effectLst/>
            </a:endParaRPr>
          </a:p>
          <a:p>
            <a:r>
              <a:rPr lang="ru-RU" dirty="0">
                <a:effectLst/>
              </a:rPr>
              <a:t>Источник: </a:t>
            </a:r>
            <a:r>
              <a:rPr lang="en-US" dirty="0"/>
              <a:t>Titanic_dataset.csv</a:t>
            </a:r>
            <a:endParaRPr lang="ru-RU" dirty="0">
              <a:effectLst/>
            </a:endParaRPr>
          </a:p>
          <a:p>
            <a:pPr marL="0" indent="0">
              <a:buNone/>
            </a:pPr>
            <a:r>
              <a:rPr lang="ru-RU" dirty="0"/>
              <a:t>     </a:t>
            </a:r>
            <a:r>
              <a:rPr lang="ru-RU" dirty="0">
                <a:effectLst/>
              </a:rPr>
              <a:t>Размер: </a:t>
            </a:r>
            <a:r>
              <a:rPr lang="en-AU" dirty="0"/>
              <a:t>889 </a:t>
            </a:r>
            <a:r>
              <a:rPr lang="ru-RU" dirty="0"/>
              <a:t>строк</a:t>
            </a:r>
            <a:endParaRPr lang="ru-RU" dirty="0">
              <a:effectLst/>
            </a:endParaRPr>
          </a:p>
          <a:p>
            <a:r>
              <a:rPr lang="ru-RU" dirty="0">
                <a:effectLst/>
              </a:rPr>
              <a:t>Ключевые поля:</a:t>
            </a:r>
          </a:p>
          <a:p>
            <a:r>
              <a:rPr lang="en-AU" dirty="0" err="1">
                <a:effectLst/>
              </a:rPr>
              <a:t>Pclass</a:t>
            </a:r>
            <a:r>
              <a:rPr lang="en-AU" dirty="0">
                <a:effectLst/>
              </a:rPr>
              <a:t>, gender, embarked, age</a:t>
            </a:r>
            <a:endParaRPr lang="ru-RU" dirty="0">
              <a:effectLst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19E30C4-693F-984C-F5B6-D49109ED2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0782" y="1266738"/>
            <a:ext cx="5799999" cy="301904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53FBF76-1B69-91D6-840E-4B423D95A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92" y="3636816"/>
            <a:ext cx="3376738" cy="287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52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79277C-CBA2-CC60-87D8-FB5BF2C73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104" y="435940"/>
            <a:ext cx="9404723" cy="788853"/>
          </a:xfrm>
        </p:spPr>
        <p:txBody>
          <a:bodyPr/>
          <a:lstStyle/>
          <a:p>
            <a:r>
              <a:rPr lang="ru-RU" dirty="0"/>
              <a:t>Валидация данных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4F2CAE34-08D9-237F-EC46-FFEFBFD94F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8968" y="1224793"/>
            <a:ext cx="8650287" cy="270276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A517812-E787-6218-542E-73D692A93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485" y="3927562"/>
            <a:ext cx="5571460" cy="303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468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113C50-486C-EFE9-6A5D-9191DADC3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665" y="461107"/>
            <a:ext cx="10707371" cy="755297"/>
          </a:xfrm>
        </p:spPr>
        <p:txBody>
          <a:bodyPr/>
          <a:lstStyle/>
          <a:p>
            <a:r>
              <a:rPr lang="ru-RU" dirty="0"/>
              <a:t>Сравнение </a:t>
            </a:r>
            <a:r>
              <a:rPr lang="en-AU" dirty="0" err="1"/>
              <a:t>LogReg</a:t>
            </a:r>
            <a:r>
              <a:rPr lang="en-AU" dirty="0"/>
              <a:t>, SVM </a:t>
            </a:r>
            <a:r>
              <a:rPr lang="ru-RU" dirty="0"/>
              <a:t>и </a:t>
            </a:r>
            <a:r>
              <a:rPr lang="en-AU" dirty="0"/>
              <a:t>KNN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EED71395-8F96-9F57-5465-946A61C3F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FCFFB44-597A-35ED-2D0F-4AFC47F12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8" y="1216404"/>
            <a:ext cx="5628571" cy="212381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539A449-F707-CE85-4460-5F062142B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354" y="1216404"/>
            <a:ext cx="5647619" cy="212381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9CF714A-3186-781F-65F0-867D69F88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2877" y="3709702"/>
            <a:ext cx="5457143" cy="23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569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553B85-5E5D-EC94-6E7F-6EDB1DDA9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88853"/>
          </a:xfrm>
        </p:spPr>
        <p:txBody>
          <a:bodyPr/>
          <a:lstStyle/>
          <a:p>
            <a:r>
              <a:rPr lang="ru-RU" dirty="0"/>
              <a:t>Результаты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4156D2-614E-3AFA-44C9-92CC94735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241571"/>
            <a:ext cx="8946541" cy="5163711"/>
          </a:xfrm>
        </p:spPr>
        <p:txBody>
          <a:bodyPr/>
          <a:lstStyle/>
          <a:p>
            <a:r>
              <a:rPr lang="ru-RU" dirty="0" err="1">
                <a:effectLst/>
              </a:rPr>
              <a:t>GridSearchCV</a:t>
            </a:r>
            <a:endParaRPr lang="ru-RU" dirty="0">
              <a:effectLst/>
            </a:endParaRPr>
          </a:p>
          <a:p>
            <a:pPr marL="0" indent="0">
              <a:buNone/>
            </a:pPr>
            <a:r>
              <a:rPr lang="ru-RU" dirty="0"/>
              <a:t>	</a:t>
            </a:r>
            <a:r>
              <a:rPr lang="en-US" dirty="0"/>
              <a:t>{'model__</a:t>
            </a:r>
            <a:r>
              <a:rPr lang="en-US" dirty="0" err="1"/>
              <a:t>max_depth</a:t>
            </a:r>
            <a:r>
              <a:rPr lang="en-US" dirty="0"/>
              <a:t>': 5, 'model__</a:t>
            </a:r>
            <a:r>
              <a:rPr lang="en-US" dirty="0" err="1"/>
              <a:t>min_samples_split</a:t>
            </a:r>
            <a:r>
              <a:rPr lang="en-US" dirty="0"/>
              <a:t>': 5, </a:t>
            </a:r>
            <a:r>
              <a:rPr lang="ru-RU" dirty="0"/>
              <a:t>	</a:t>
            </a:r>
            <a:r>
              <a:rPr lang="en-US" dirty="0"/>
              <a:t>'model__</a:t>
            </a:r>
            <a:r>
              <a:rPr lang="en-US" dirty="0" err="1"/>
              <a:t>n_estimators</a:t>
            </a:r>
            <a:r>
              <a:rPr lang="en-US" dirty="0"/>
              <a:t>': 300}</a:t>
            </a:r>
          </a:p>
          <a:p>
            <a:pPr marL="0" indent="0">
              <a:buNone/>
            </a:pPr>
            <a:r>
              <a:rPr lang="ru-RU" dirty="0"/>
              <a:t>	</a:t>
            </a:r>
            <a:r>
              <a:rPr lang="en-US" dirty="0"/>
              <a:t>MSE </a:t>
            </a:r>
            <a:r>
              <a:rPr lang="en-US" dirty="0" err="1"/>
              <a:t>GridSearch</a:t>
            </a:r>
            <a:r>
              <a:rPr lang="en-US" dirty="0"/>
              <a:t>: 8.174112e+06</a:t>
            </a:r>
            <a:endParaRPr lang="ru-RU" dirty="0">
              <a:effectLst/>
            </a:endParaRPr>
          </a:p>
          <a:p>
            <a:r>
              <a:rPr lang="ru-RU" dirty="0" err="1">
                <a:effectLst/>
              </a:rPr>
              <a:t>RandomizedSearchCV</a:t>
            </a:r>
            <a:endParaRPr lang="ru-RU" dirty="0">
              <a:effectLst/>
            </a:endParaRPr>
          </a:p>
          <a:p>
            <a:pPr marL="0" indent="0">
              <a:buNone/>
            </a:pPr>
            <a:r>
              <a:rPr lang="ru-RU" dirty="0"/>
              <a:t>	</a:t>
            </a:r>
            <a:r>
              <a:rPr lang="en-US" dirty="0"/>
              <a:t>{'model__</a:t>
            </a:r>
            <a:r>
              <a:rPr lang="en-US" dirty="0" err="1"/>
              <a:t>n_estimators</a:t>
            </a:r>
            <a:r>
              <a:rPr lang="en-US" dirty="0"/>
              <a:t>': 400, 'model__</a:t>
            </a:r>
            <a:r>
              <a:rPr lang="en-US" dirty="0" err="1"/>
              <a:t>min_samples_split</a:t>
            </a:r>
            <a:r>
              <a:rPr lang="en-US" dirty="0"/>
              <a:t>': 10, </a:t>
            </a:r>
            <a:r>
              <a:rPr lang="ru-RU" dirty="0"/>
              <a:t>	</a:t>
            </a:r>
            <a:r>
              <a:rPr lang="en-US" dirty="0"/>
              <a:t>'model__</a:t>
            </a:r>
            <a:r>
              <a:rPr lang="en-US" dirty="0" err="1"/>
              <a:t>max_depth</a:t>
            </a:r>
            <a:r>
              <a:rPr lang="en-US" dirty="0"/>
              <a:t>': 5}</a:t>
            </a:r>
          </a:p>
          <a:p>
            <a:pPr marL="0" indent="0">
              <a:buNone/>
            </a:pPr>
            <a:r>
              <a:rPr lang="ru-RU" dirty="0"/>
              <a:t>	</a:t>
            </a:r>
            <a:r>
              <a:rPr lang="en-US" dirty="0"/>
              <a:t>MSE </a:t>
            </a:r>
            <a:r>
              <a:rPr lang="en-US" dirty="0" err="1"/>
              <a:t>RandomSearch</a:t>
            </a:r>
            <a:r>
              <a:rPr lang="en-US" dirty="0"/>
              <a:t>: 8.174370e+06</a:t>
            </a:r>
            <a:endParaRPr lang="ru-RU" dirty="0">
              <a:effectLst/>
            </a:endParaRPr>
          </a:p>
          <a:p>
            <a:r>
              <a:rPr lang="ru-RU" dirty="0" err="1">
                <a:effectLst/>
              </a:rPr>
              <a:t>Optuna</a:t>
            </a:r>
            <a:endParaRPr lang="ru-RU" dirty="0">
              <a:effectLst/>
            </a:endParaRPr>
          </a:p>
          <a:p>
            <a:pPr marL="0" indent="0">
              <a:buNone/>
            </a:pPr>
            <a:r>
              <a:rPr lang="ru-RU" dirty="0"/>
              <a:t>	</a:t>
            </a:r>
            <a:r>
              <a:rPr lang="en-US" dirty="0"/>
              <a:t>{'</a:t>
            </a:r>
            <a:r>
              <a:rPr lang="en-US" dirty="0" err="1"/>
              <a:t>n_estimators</a:t>
            </a:r>
            <a:r>
              <a:rPr lang="en-US" dirty="0"/>
              <a:t>': 146, '</a:t>
            </a:r>
            <a:r>
              <a:rPr lang="en-US" dirty="0" err="1"/>
              <a:t>max_depth</a:t>
            </a:r>
            <a:r>
              <a:rPr lang="en-US" dirty="0"/>
              <a:t>': 5, '</a:t>
            </a:r>
            <a:r>
              <a:rPr lang="en-US" dirty="0" err="1"/>
              <a:t>min_samples_split</a:t>
            </a:r>
            <a:r>
              <a:rPr lang="en-US" dirty="0"/>
              <a:t>': 6}</a:t>
            </a:r>
          </a:p>
          <a:p>
            <a:pPr marL="0" indent="0">
              <a:buNone/>
            </a:pPr>
            <a:r>
              <a:rPr lang="ru-RU" dirty="0"/>
              <a:t>	</a:t>
            </a:r>
            <a:r>
              <a:rPr lang="en-US" dirty="0"/>
              <a:t>MSE </a:t>
            </a:r>
            <a:r>
              <a:rPr lang="en-US" dirty="0" err="1"/>
              <a:t>Optuna</a:t>
            </a:r>
            <a:r>
              <a:rPr lang="en-US" dirty="0"/>
              <a:t>: 8.173015e+06</a:t>
            </a:r>
            <a:endParaRPr lang="ru-RU" dirty="0">
              <a:effectLst/>
            </a:endParaRPr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B104999-473F-98E6-7CE8-8AEFF5A1B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384" y="1626788"/>
            <a:ext cx="9096175" cy="115797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A80812C-360E-7E67-0C88-3B0360494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384" y="3223538"/>
            <a:ext cx="7765248" cy="129997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DAD377C-407E-DCF3-8363-20D56B6335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000" y="4811667"/>
            <a:ext cx="7966109" cy="16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493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EDD519-4B55-3825-5ABF-413446753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915192E-6F3D-35E1-832B-EBA9F6A0DD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03164"/>
            <a:ext cx="12190600" cy="379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283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E0FCF1-7F77-6E2D-18AB-1D628D88C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Библиотека </a:t>
            </a:r>
            <a:r>
              <a:rPr lang="en-AU" dirty="0" err="1"/>
              <a:t>Catboost</a:t>
            </a:r>
            <a:r>
              <a:rPr lang="ru-RU" dirty="0"/>
              <a:t>:</a:t>
            </a:r>
            <a:r>
              <a:rPr lang="en-AU" dirty="0"/>
              <a:t> </a:t>
            </a:r>
            <a:r>
              <a:rPr lang="ru-RU" dirty="0"/>
              <a:t>обучение и результаты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D1C75FDB-A250-A02E-66F7-303704B639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63061" y="2876097"/>
            <a:ext cx="6570476" cy="197864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04EB968-3C43-12BB-6B75-B2EF23139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52918"/>
            <a:ext cx="5463061" cy="4066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752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1AED35-C285-F849-EBD7-B0B51CC54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13352"/>
          </a:xfrm>
        </p:spPr>
        <p:txBody>
          <a:bodyPr/>
          <a:lstStyle/>
          <a:p>
            <a:r>
              <a:rPr lang="ru-RU" dirty="0"/>
              <a:t>Выбор лучшего метода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5D46F0-359E-AE0B-EE24-FF1EC8C89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331259"/>
            <a:ext cx="8946541" cy="4195481"/>
          </a:xfrm>
        </p:spPr>
        <p:txBody>
          <a:bodyPr/>
          <a:lstStyle/>
          <a:p>
            <a:r>
              <a:rPr lang="ru-RU" dirty="0"/>
              <a:t>Сравнив три метода видно, что среднеквадратичная ошибка меньше всего у метода </a:t>
            </a:r>
            <a:r>
              <a:rPr lang="en-US" dirty="0" err="1"/>
              <a:t>Optuna</a:t>
            </a:r>
            <a:r>
              <a:rPr lang="ru-RU" dirty="0"/>
              <a:t> со значением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en-US" dirty="0"/>
              <a:t>{'</a:t>
            </a:r>
            <a:r>
              <a:rPr lang="en-US" dirty="0" err="1"/>
              <a:t>n_estimators</a:t>
            </a:r>
            <a:r>
              <a:rPr lang="en-US" dirty="0"/>
              <a:t>': 146, '</a:t>
            </a:r>
            <a:r>
              <a:rPr lang="en-US" dirty="0" err="1"/>
              <a:t>max_depth</a:t>
            </a:r>
            <a:r>
              <a:rPr lang="en-US" dirty="0"/>
              <a:t>': 5, '</a:t>
            </a:r>
            <a:r>
              <a:rPr lang="en-US" dirty="0" err="1"/>
              <a:t>min_samples_split</a:t>
            </a:r>
            <a:r>
              <a:rPr lang="en-US" dirty="0"/>
              <a:t>': 6}</a:t>
            </a:r>
          </a:p>
          <a:p>
            <a:pPr marL="0" indent="0">
              <a:buNone/>
            </a:pPr>
            <a:r>
              <a:rPr lang="en-US" dirty="0"/>
              <a:t>    MSE </a:t>
            </a:r>
            <a:r>
              <a:rPr lang="en-US" dirty="0" err="1"/>
              <a:t>Optuna</a:t>
            </a:r>
            <a:r>
              <a:rPr lang="en-US" dirty="0"/>
              <a:t>: 8.173015e+06</a:t>
            </a:r>
          </a:p>
          <a:p>
            <a:pPr marL="0" indent="0">
              <a:buNone/>
            </a:pP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9F4A14F-FFFA-4736-B44C-A568939D0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186" y="2368370"/>
            <a:ext cx="10923809" cy="17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393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60A3DA-B4B9-6BE5-414D-1418D83E7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Confusion Matrix </a:t>
            </a:r>
            <a:r>
              <a:rPr lang="ru-RU" dirty="0"/>
              <a:t>и топ-признаки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E7B100F-A546-4F4D-2615-C909CA69BC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246" y="1262929"/>
            <a:ext cx="5788373" cy="419576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ED8902-ADD1-18AD-2128-B94AE6825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3378" y="1493910"/>
            <a:ext cx="5974376" cy="3646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442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99C6A8-5489-801C-64F6-41BBD9B64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80464"/>
          </a:xfrm>
        </p:spPr>
        <p:txBody>
          <a:bodyPr/>
          <a:lstStyle/>
          <a:p>
            <a:r>
              <a:rPr lang="ru-RU" dirty="0"/>
              <a:t>Глобальная интерпретация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1B55E29-315E-201C-858B-43D6F809D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7639" y="1620720"/>
            <a:ext cx="5290085" cy="4417898"/>
          </a:xfrm>
          <a:prstGeom prst="rect">
            <a:avLst/>
          </a:prstGeom>
        </p:spPr>
      </p:pic>
      <p:pic>
        <p:nvPicPr>
          <p:cNvPr id="10" name="Объект 9">
            <a:extLst>
              <a:ext uri="{FF2B5EF4-FFF2-40B4-BE49-F238E27FC236}">
                <a16:creationId xmlns:a16="http://schemas.microsoft.com/office/drawing/2014/main" id="{41A7A4BA-F922-3580-580A-EE3675BC12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5585" y="1703846"/>
            <a:ext cx="5290085" cy="415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5987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157</TotalTime>
  <Words>222</Words>
  <Application>Microsoft Office PowerPoint</Application>
  <PresentationFormat>Широкоэкранный</PresentationFormat>
  <Paragraphs>31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Century Gothic</vt:lpstr>
      <vt:lpstr>Wingdings 3</vt:lpstr>
      <vt:lpstr>Ион</vt:lpstr>
      <vt:lpstr>Лабораторная работа №2</vt:lpstr>
      <vt:lpstr>Описание датасета</vt:lpstr>
      <vt:lpstr>Валидация данных</vt:lpstr>
      <vt:lpstr>Сравнение LogReg, SVM и KNN</vt:lpstr>
      <vt:lpstr>Результаты</vt:lpstr>
      <vt:lpstr>Презентация PowerPoint</vt:lpstr>
      <vt:lpstr>Библиотека Catboost: обучение и результаты</vt:lpstr>
      <vt:lpstr>Выбор лучшего метода</vt:lpstr>
      <vt:lpstr>Confusion Matrix и топ-признаки</vt:lpstr>
      <vt:lpstr>Глобальная интерпретация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Дмитрий</dc:creator>
  <cp:lastModifiedBy>Єдик Магомедов</cp:lastModifiedBy>
  <cp:revision>6</cp:revision>
  <dcterms:created xsi:type="dcterms:W3CDTF">2025-11-29T17:31:18Z</dcterms:created>
  <dcterms:modified xsi:type="dcterms:W3CDTF">2025-12-15T08:40:16Z</dcterms:modified>
</cp:coreProperties>
</file>