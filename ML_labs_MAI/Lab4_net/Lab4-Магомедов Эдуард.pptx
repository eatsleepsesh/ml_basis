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6" r:id="rId7"/>
    <p:sldId id="267" r:id="rId8"/>
    <p:sldId id="27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17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4633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9398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4708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34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3694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8241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2669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0560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2733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2564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56515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849655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32482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84747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10661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42145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318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39508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29D4E0-46F5-657F-9E96-B9E965B681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1649910"/>
            <a:ext cx="8425563" cy="861420"/>
          </a:xfrm>
        </p:spPr>
        <p:txBody>
          <a:bodyPr/>
          <a:lstStyle/>
          <a:p>
            <a:r>
              <a:rPr lang="ru-RU" sz="4800" dirty="0"/>
              <a:t>Лабораторная работа №</a:t>
            </a:r>
            <a:r>
              <a:rPr lang="en-US" sz="4800" dirty="0"/>
              <a:t>4</a:t>
            </a:r>
            <a:endParaRPr lang="ru-RU" sz="48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0AE8B4E-FE39-B9F0-57F6-41A4EBB9C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3171" y="2511330"/>
            <a:ext cx="8825658" cy="861420"/>
          </a:xfrm>
        </p:spPr>
        <p:txBody>
          <a:bodyPr>
            <a:normAutofit/>
          </a:bodyPr>
          <a:lstStyle/>
          <a:p>
            <a:r>
              <a:rPr lang="ru-RU" dirty="0"/>
              <a:t>Тема: </a:t>
            </a:r>
            <a:r>
              <a:rPr lang="en-US" dirty="0"/>
              <a:t>“</a:t>
            </a:r>
            <a:r>
              <a:rPr lang="ru-RU" dirty="0"/>
              <a:t>Лабораторная работа: </a:t>
            </a:r>
            <a:r>
              <a:rPr lang="ru-RU" dirty="0" err="1"/>
              <a:t>Bayesian</a:t>
            </a:r>
            <a:r>
              <a:rPr lang="ru-RU" dirty="0"/>
              <a:t> Networks на примере датасета</a:t>
            </a:r>
            <a:r>
              <a:rPr lang="en-US" dirty="0"/>
              <a:t>Mushroom Classification”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8C9496-FE26-858B-6A67-5478DCCD6BDD}"/>
              </a:ext>
            </a:extLst>
          </p:cNvPr>
          <p:cNvSpPr txBox="1"/>
          <p:nvPr/>
        </p:nvSpPr>
        <p:spPr>
          <a:xfrm>
            <a:off x="6450360" y="5208090"/>
            <a:ext cx="4087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Магомедов Эдуард </a:t>
            </a:r>
            <a:r>
              <a:rPr lang="ru-RU" dirty="0" err="1"/>
              <a:t>Хасбулаевич</a:t>
            </a:r>
            <a:endParaRPr lang="ru-RU" dirty="0"/>
          </a:p>
          <a:p>
            <a:pPr algn="r"/>
            <a:r>
              <a:rPr lang="ru-RU" dirty="0"/>
              <a:t>М8О-309Б-23</a:t>
            </a:r>
          </a:p>
        </p:txBody>
      </p:sp>
    </p:spTree>
    <p:extLst>
      <p:ext uri="{BB962C8B-B14F-4D97-AF65-F5344CB8AC3E}">
        <p14:creationId xmlns:p14="http://schemas.microsoft.com/office/powerpoint/2010/main" val="1553999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48E527-B8AE-FA0D-465E-F7930ECD9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600" y="465080"/>
            <a:ext cx="9404723" cy="700265"/>
          </a:xfrm>
        </p:spPr>
        <p:txBody>
          <a:bodyPr/>
          <a:lstStyle/>
          <a:p>
            <a:r>
              <a:rPr lang="en-US" dirty="0"/>
              <a:t>Bayesian Networks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040BFC-7DD7-384E-8D98-71CB9ADDD96A}"/>
              </a:ext>
            </a:extLst>
          </p:cNvPr>
          <p:cNvSpPr txBox="1">
            <a:spLocks/>
          </p:cNvSpPr>
          <p:nvPr/>
        </p:nvSpPr>
        <p:spPr>
          <a:xfrm>
            <a:off x="492600" y="1373334"/>
            <a:ext cx="9626207" cy="41113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8AC0CD-521D-5788-2503-2276B55DEE1B}"/>
              </a:ext>
            </a:extLst>
          </p:cNvPr>
          <p:cNvSpPr txBox="1"/>
          <p:nvPr/>
        </p:nvSpPr>
        <p:spPr>
          <a:xfrm>
            <a:off x="492599" y="1373334"/>
            <a:ext cx="9926527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Bayesian Network</a:t>
            </a:r>
            <a:r>
              <a:rPr lang="ru-RU" sz="2000" dirty="0"/>
              <a:t> -</a:t>
            </a:r>
            <a:r>
              <a:rPr lang="en-US" sz="2000" dirty="0"/>
              <a:t> </a:t>
            </a:r>
            <a:r>
              <a:rPr lang="ru-RU" sz="2000" dirty="0"/>
              <a:t>это</a:t>
            </a:r>
            <a:r>
              <a:rPr lang="en-US" sz="2000" dirty="0"/>
              <a:t> </a:t>
            </a:r>
            <a:r>
              <a:rPr lang="ru-RU" sz="2000" dirty="0"/>
              <a:t>вероятностная </a:t>
            </a:r>
            <a:r>
              <a:rPr lang="ru-RU" sz="2000" dirty="0" err="1"/>
              <a:t>графовая</a:t>
            </a:r>
            <a:r>
              <a:rPr lang="ru-RU" sz="2000" dirty="0"/>
              <a:t> модель, у которой узлы это переменные, </a:t>
            </a:r>
            <a:r>
              <a:rPr lang="ru-RU" sz="2000" dirty="0" err="1"/>
              <a:t>причино</a:t>
            </a:r>
            <a:r>
              <a:rPr lang="ru-RU" sz="2000" dirty="0"/>
              <a:t>-следственные зависимости обозначаются стрелками. Количественные зависимости задаются таблицей условных вероятностей</a:t>
            </a:r>
          </a:p>
          <a:p>
            <a:endParaRPr lang="ru-RU" sz="2000" dirty="0"/>
          </a:p>
          <a:p>
            <a:r>
              <a:rPr lang="en-US" sz="2000" dirty="0"/>
              <a:t>Bayesian Network</a:t>
            </a:r>
            <a:r>
              <a:rPr lang="ru-RU" sz="2000" dirty="0"/>
              <a:t> используется для: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Классификации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Прогнозирования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Моделирования неопределенности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Объяснения зависимости между признаками</a:t>
            </a:r>
          </a:p>
        </p:txBody>
      </p:sp>
    </p:spTree>
    <p:extLst>
      <p:ext uri="{BB962C8B-B14F-4D97-AF65-F5344CB8AC3E}">
        <p14:creationId xmlns:p14="http://schemas.microsoft.com/office/powerpoint/2010/main" val="3682440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79CA9-66B9-A279-E8EA-57ABB7CBE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219" y="452718"/>
            <a:ext cx="9404723" cy="814020"/>
          </a:xfrm>
        </p:spPr>
        <p:txBody>
          <a:bodyPr/>
          <a:lstStyle/>
          <a:p>
            <a:r>
              <a:rPr lang="ru-RU" dirty="0"/>
              <a:t>Описание датасета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060528-1C23-7AA6-1B47-3F2F23E8D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219" y="1266738"/>
            <a:ext cx="8946541" cy="1702965"/>
          </a:xfrm>
        </p:spPr>
        <p:txBody>
          <a:bodyPr>
            <a:normAutofit/>
          </a:bodyPr>
          <a:lstStyle/>
          <a:p>
            <a:r>
              <a:rPr lang="ru-RU" dirty="0">
                <a:effectLst/>
              </a:rPr>
              <a:t>Датасет:</a:t>
            </a:r>
            <a:r>
              <a:rPr lang="en-US" dirty="0">
                <a:effectLst/>
              </a:rPr>
              <a:t> Mushroom Classification. </a:t>
            </a:r>
            <a:r>
              <a:rPr lang="ru-RU" dirty="0">
                <a:effectLst/>
              </a:rPr>
              <a:t>Он </a:t>
            </a:r>
            <a:r>
              <a:rPr lang="ru-RU" dirty="0"/>
              <a:t>содержит 8124 строки, 23 столбца, из которых </a:t>
            </a:r>
            <a:r>
              <a:rPr lang="en-US" dirty="0"/>
              <a:t>class </a:t>
            </a:r>
            <a:r>
              <a:rPr lang="ru-RU" dirty="0"/>
              <a:t>и 22 признака</a:t>
            </a:r>
            <a:endParaRPr lang="ru-RU" dirty="0">
              <a:effectLst/>
            </a:endParaRPr>
          </a:p>
          <a:p>
            <a:r>
              <a:rPr lang="ru-RU" dirty="0">
                <a:effectLst/>
              </a:rPr>
              <a:t>Признаки: все категориальные</a:t>
            </a:r>
          </a:p>
          <a:p>
            <a:r>
              <a:rPr lang="ru-RU" dirty="0"/>
              <a:t>Классы: съедобные 52%, ядовитые 48%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CB071C4-A195-6D0B-C398-6816DEDC9D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102"/>
          <a:stretch/>
        </p:blipFill>
        <p:spPr>
          <a:xfrm>
            <a:off x="140275" y="3533751"/>
            <a:ext cx="5955725" cy="91894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238900E-8270-70AE-D798-CF640ACED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840" y="3533751"/>
            <a:ext cx="5955725" cy="91894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B767D89-9472-5B70-7962-362355FF96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274" y="4543227"/>
            <a:ext cx="5955725" cy="91894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1DF8A22-D880-9696-E799-A2E3D30D8D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840" y="4543227"/>
            <a:ext cx="5955723" cy="918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52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79277C-CBA2-CC60-87D8-FB5BF2C73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104" y="435940"/>
            <a:ext cx="9404723" cy="788853"/>
          </a:xfrm>
        </p:spPr>
        <p:txBody>
          <a:bodyPr/>
          <a:lstStyle/>
          <a:p>
            <a:r>
              <a:rPr lang="ru-RU" dirty="0"/>
              <a:t>Загрузка датасета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70B433B2-F8F4-5CEF-6952-A86FF16136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6858" y="2052638"/>
            <a:ext cx="5340060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468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553B85-5E5D-EC94-6E7F-6EDB1DDA9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88853"/>
          </a:xfrm>
        </p:spPr>
        <p:txBody>
          <a:bodyPr/>
          <a:lstStyle/>
          <a:p>
            <a:r>
              <a:rPr lang="ru-RU" dirty="0"/>
              <a:t>Построение </a:t>
            </a:r>
            <a:r>
              <a:rPr lang="en-US" dirty="0"/>
              <a:t>Bayesian Network</a:t>
            </a:r>
            <a:endParaRPr lang="ru-RU" dirty="0"/>
          </a:p>
        </p:txBody>
      </p:sp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726A9246-E4E0-0BF6-AFD2-32E175AE6D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556" y="1422930"/>
            <a:ext cx="5334228" cy="4066309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DB3E118-6428-F2BA-9087-49E3F8F03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1449" y="2350748"/>
            <a:ext cx="6560551" cy="215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493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553B85-5E5D-EC94-6E7F-6EDB1DDA9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88853"/>
          </a:xfrm>
        </p:spPr>
        <p:txBody>
          <a:bodyPr/>
          <a:lstStyle/>
          <a:p>
            <a:r>
              <a:rPr lang="ru-RU" dirty="0"/>
              <a:t>Построение </a:t>
            </a:r>
            <a:r>
              <a:rPr lang="en-US" dirty="0"/>
              <a:t>Bayesian Network</a:t>
            </a:r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458B7788-EC6E-5DD6-0D9C-EFBCC5D515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9404" y="1392848"/>
            <a:ext cx="8947150" cy="209326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F21A52F-B100-A465-4BB4-00E5520BD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2168" y="3879047"/>
            <a:ext cx="6294766" cy="2452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639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1AED35-C285-F849-EBD7-B0B51CC54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13352"/>
          </a:xfrm>
        </p:spPr>
        <p:txBody>
          <a:bodyPr/>
          <a:lstStyle/>
          <a:p>
            <a:r>
              <a:rPr lang="ru-RU" dirty="0"/>
              <a:t>Оценка параметров и </a:t>
            </a:r>
            <a:r>
              <a:rPr lang="en-US" dirty="0"/>
              <a:t>CPT</a:t>
            </a:r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556D72A3-1AD8-84EF-E87D-E562DF10AD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2425" y="1848635"/>
            <a:ext cx="8947150" cy="3664199"/>
          </a:xfrm>
        </p:spPr>
      </p:pic>
    </p:spTree>
    <p:extLst>
      <p:ext uri="{BB962C8B-B14F-4D97-AF65-F5344CB8AC3E}">
        <p14:creationId xmlns:p14="http://schemas.microsoft.com/office/powerpoint/2010/main" val="1738447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1AED35-C285-F849-EBD7-B0B51CC54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13352"/>
          </a:xfrm>
        </p:spPr>
        <p:txBody>
          <a:bodyPr/>
          <a:lstStyle/>
          <a:p>
            <a:r>
              <a:rPr lang="ru-RU" dirty="0"/>
              <a:t>Оценка с </a:t>
            </a:r>
            <a:r>
              <a:rPr lang="en-US" dirty="0"/>
              <a:t>Baseline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DAA3C20-6A88-FDFE-2023-63DB80673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337" y="1166070"/>
            <a:ext cx="9839325" cy="555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1959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216</TotalTime>
  <Words>110</Words>
  <Application>Microsoft Office PowerPoint</Application>
  <PresentationFormat>Широкоэкранный</PresentationFormat>
  <Paragraphs>22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Ион</vt:lpstr>
      <vt:lpstr>Лабораторная работа №4</vt:lpstr>
      <vt:lpstr>Bayesian Networks</vt:lpstr>
      <vt:lpstr>Описание датасета</vt:lpstr>
      <vt:lpstr>Загрузка датасета</vt:lpstr>
      <vt:lpstr>Построение Bayesian Network</vt:lpstr>
      <vt:lpstr>Построение Bayesian Network</vt:lpstr>
      <vt:lpstr>Оценка параметров и CPT</vt:lpstr>
      <vt:lpstr>Оценка с Baseline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Дмитрий</dc:creator>
  <cp:lastModifiedBy>Єдик Магомедов</cp:lastModifiedBy>
  <cp:revision>6</cp:revision>
  <dcterms:created xsi:type="dcterms:W3CDTF">2025-11-29T17:31:18Z</dcterms:created>
  <dcterms:modified xsi:type="dcterms:W3CDTF">2025-12-15T08:29:59Z</dcterms:modified>
</cp:coreProperties>
</file>